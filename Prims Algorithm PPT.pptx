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654D4-708C-4500-A00B-CC7728EE8BDA}" v="1" dt="2026-10-19T14:19:24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3229"/>
            <a:ext cx="1917256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 dirty="0">
                <a:solidFill>
                  <a:srgbClr val="1FB5A0"/>
                </a:solidFill>
                <a:latin typeface="Aptos"/>
              </a:rPr>
              <a:t>THE VISUAL CLASSROOM  •  DA</a:t>
            </a:r>
            <a:r>
              <a:rPr lang="en-US" sz="1000" b="1" dirty="0">
                <a:solidFill>
                  <a:srgbClr val="1FB5A0"/>
                </a:solidFill>
                <a:latin typeface="Aptos"/>
              </a:rPr>
              <a:t>A</a:t>
            </a:r>
            <a:endParaRPr sz="1000" b="1" dirty="0">
              <a:solidFill>
                <a:srgbClr val="1FB5A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303520" cy="1645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PRIM’S
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2926080"/>
            <a:ext cx="777240" cy="54864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3200400"/>
            <a:ext cx="5029200" cy="82296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100" b="0">
                <a:solidFill>
                  <a:srgbClr val="BFD2D7"/>
                </a:solidFill>
                <a:latin typeface="Aptos Display"/>
              </a:rPr>
              <a:t>Minimum Spanning Tree using
a Greedy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43891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DESIGN &amp; ANALYSIS OF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87643"/>
            <a:ext cx="1059585" cy="252377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669280"/>
            <a:ext cx="53035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BFD2D7"/>
                </a:solidFill>
                <a:latin typeface="Aptos"/>
              </a:rPr>
              <a:t>WEIGHTED  •  UNDIRECTED  •  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9AAFB9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9AAFB9"/>
                </a:solidFill>
                <a:latin typeface="Aptos"/>
              </a:rPr>
              <a:t>01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21796" y="1668697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9824" y="3032505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 dirty="0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4099" y="2341210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57036" y="1254376"/>
            <a:ext cx="276514" cy="20445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 dirty="0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85098" y="2493951"/>
            <a:ext cx="335536" cy="22839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64915" y="2375282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57703" y="3598420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57" name="Oval 56"/>
          <p:cNvSpPr/>
          <p:nvPr/>
        </p:nvSpPr>
        <p:spPr>
          <a:xfrm>
            <a:off x="5553182" y="2108401"/>
            <a:ext cx="515874" cy="516823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58" name="Oval 57"/>
          <p:cNvSpPr/>
          <p:nvPr/>
        </p:nvSpPr>
        <p:spPr>
          <a:xfrm>
            <a:off x="6934078" y="972133"/>
            <a:ext cx="568683" cy="529303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6824521" y="3463271"/>
            <a:ext cx="575204" cy="584470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60" name="Oval 59"/>
          <p:cNvSpPr/>
          <p:nvPr/>
        </p:nvSpPr>
        <p:spPr>
          <a:xfrm>
            <a:off x="8487826" y="1065252"/>
            <a:ext cx="618857" cy="529303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61" name="Oval 60"/>
          <p:cNvSpPr/>
          <p:nvPr/>
        </p:nvSpPr>
        <p:spPr>
          <a:xfrm>
            <a:off x="9493521" y="3320251"/>
            <a:ext cx="575206" cy="551334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E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6005779" y="1534363"/>
            <a:ext cx="1185062" cy="855878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13807" y="2374137"/>
            <a:ext cx="1185062" cy="1119226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90841" y="1534363"/>
            <a:ext cx="0" cy="1975104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151482" y="1528244"/>
            <a:ext cx="1514247" cy="0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51482" y="1492366"/>
            <a:ext cx="1514247" cy="1975104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05088" y="1534363"/>
            <a:ext cx="921715" cy="1975104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190841" y="3509467"/>
            <a:ext cx="2435962" cy="0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02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Find the cheapest way to connect every vertex — without cycles.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29400" y="1755648"/>
            <a:ext cx="4892040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67728" y="2011680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THE GOAL</a:t>
            </a:r>
          </a:p>
        </p:txBody>
      </p:sp>
      <p:sp>
        <p:nvSpPr>
          <p:cNvPr id="27" name="Oval 26"/>
          <p:cNvSpPr/>
          <p:nvPr/>
        </p:nvSpPr>
        <p:spPr>
          <a:xfrm>
            <a:off x="7082028" y="2583179"/>
            <a:ext cx="137160" cy="137160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0" y="2487168"/>
            <a:ext cx="3657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0" dirty="0">
                <a:solidFill>
                  <a:srgbClr val="192F3E"/>
                </a:solidFill>
                <a:latin typeface="Aptos"/>
              </a:rPr>
              <a:t>Connect all vertices</a:t>
            </a:r>
          </a:p>
        </p:txBody>
      </p:sp>
      <p:sp>
        <p:nvSpPr>
          <p:cNvPr id="29" name="Oval 28"/>
          <p:cNvSpPr/>
          <p:nvPr/>
        </p:nvSpPr>
        <p:spPr>
          <a:xfrm>
            <a:off x="7082028" y="3177539"/>
            <a:ext cx="137160" cy="137160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3081528"/>
            <a:ext cx="3657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Minimum total edge weight</a:t>
            </a:r>
          </a:p>
        </p:txBody>
      </p:sp>
      <p:sp>
        <p:nvSpPr>
          <p:cNvPr id="31" name="Oval 30"/>
          <p:cNvSpPr/>
          <p:nvPr/>
        </p:nvSpPr>
        <p:spPr>
          <a:xfrm>
            <a:off x="7082028" y="3771900"/>
            <a:ext cx="137160" cy="137160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3675888"/>
            <a:ext cx="3657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No cycles</a:t>
            </a:r>
          </a:p>
        </p:txBody>
      </p:sp>
      <p:sp>
        <p:nvSpPr>
          <p:cNvPr id="33" name="Oval 32"/>
          <p:cNvSpPr/>
          <p:nvPr/>
        </p:nvSpPr>
        <p:spPr>
          <a:xfrm>
            <a:off x="7082028" y="4366259"/>
            <a:ext cx="137160" cy="137160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40" y="4270248"/>
            <a:ext cx="3657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92F3E"/>
                </a:solidFill>
                <a:latin typeface="Aptos"/>
              </a:rPr>
              <a:t>MST contains V − 1 edges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5230368"/>
            <a:ext cx="4160520" cy="22860"/>
          </a:xfrm>
          <a:prstGeom prst="rect">
            <a:avLst/>
          </a:prstGeom>
          <a:solidFill>
            <a:srgbClr val="E0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5394960"/>
            <a:ext cx="109728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900" b="1">
                <a:solidFill>
                  <a:srgbClr val="081B2C"/>
                </a:solidFill>
                <a:latin typeface="Aptos"/>
              </a:rPr>
              <a:t>V =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394960"/>
            <a:ext cx="109728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900" b="1">
                <a:solidFill>
                  <a:srgbClr val="081B2C"/>
                </a:solidFill>
                <a:latin typeface="Aptos"/>
              </a:rPr>
              <a:t>E =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5394960"/>
            <a:ext cx="150876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F69D5F"/>
                </a:solidFill>
                <a:latin typeface="Aptos"/>
              </a:rPr>
              <a:t>START =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9118" y="2403411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99118" y="3401568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 dirty="0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89499" y="2744949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40112" y="1990282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 dirty="0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49015" y="3059767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 dirty="0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782180" y="3121518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4162" y="3987515"/>
            <a:ext cx="299557" cy="21396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58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8" name="Oval 67"/>
          <p:cNvSpPr/>
          <p:nvPr/>
        </p:nvSpPr>
        <p:spPr>
          <a:xfrm>
            <a:off x="323880" y="2796418"/>
            <a:ext cx="370880" cy="370880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9" name="Oval 68"/>
          <p:cNvSpPr/>
          <p:nvPr/>
        </p:nvSpPr>
        <p:spPr>
          <a:xfrm>
            <a:off x="1521542" y="1560076"/>
            <a:ext cx="370880" cy="370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192F3E"/>
                </a:solidFill>
                <a:latin typeface="Aptos Display"/>
              </a:rPr>
              <a:t>B</a:t>
            </a:r>
          </a:p>
        </p:txBody>
      </p:sp>
      <p:sp>
        <p:nvSpPr>
          <p:cNvPr id="70" name="Oval 69"/>
          <p:cNvSpPr/>
          <p:nvPr/>
        </p:nvSpPr>
        <p:spPr>
          <a:xfrm>
            <a:off x="1568471" y="4058838"/>
            <a:ext cx="370880" cy="370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C</a:t>
            </a:r>
          </a:p>
        </p:txBody>
      </p:sp>
      <p:sp>
        <p:nvSpPr>
          <p:cNvPr id="71" name="Oval 70"/>
          <p:cNvSpPr/>
          <p:nvPr/>
        </p:nvSpPr>
        <p:spPr>
          <a:xfrm>
            <a:off x="3362814" y="1619402"/>
            <a:ext cx="370880" cy="370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D</a:t>
            </a:r>
          </a:p>
        </p:txBody>
      </p:sp>
      <p:sp>
        <p:nvSpPr>
          <p:cNvPr id="72" name="Oval 71"/>
          <p:cNvSpPr/>
          <p:nvPr/>
        </p:nvSpPr>
        <p:spPr>
          <a:xfrm>
            <a:off x="4246656" y="4008912"/>
            <a:ext cx="370880" cy="3708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E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409469" y="1919233"/>
            <a:ext cx="1283818" cy="927202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02335" y="3095975"/>
            <a:ext cx="1283818" cy="1212494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774472" y="1919233"/>
            <a:ext cx="0" cy="213969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793138" y="1876241"/>
            <a:ext cx="1640434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807401" y="1919142"/>
            <a:ext cx="1640434" cy="213969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583350" y="1969068"/>
            <a:ext cx="998524" cy="213969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14534" y="4308469"/>
            <a:ext cx="2638958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03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105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Minimum Spanning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The selected edges form one connected tree.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0" y="1783080"/>
            <a:ext cx="2514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0" y="1783080"/>
            <a:ext cx="2514600" cy="64008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1965960"/>
            <a:ext cx="2112264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SPANNING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350008"/>
            <a:ext cx="2112264" cy="5212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All vertices
connected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1783080"/>
            <a:ext cx="2514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32520" y="1783080"/>
            <a:ext cx="2514600" cy="64008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33688" y="1965960"/>
            <a:ext cx="2112264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F69D5F"/>
                </a:solidFill>
                <a:latin typeface="Aptos"/>
              </a:rPr>
              <a:t>MINIMUM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2350008"/>
            <a:ext cx="2112264" cy="5212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Lowest total
weight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246120"/>
            <a:ext cx="2514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3246120"/>
            <a:ext cx="2514600" cy="64008"/>
          </a:xfrm>
          <a:prstGeom prst="rect">
            <a:avLst/>
          </a:prstGeom>
          <a:solidFill>
            <a:srgbClr val="CD6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3429000"/>
            <a:ext cx="2112264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CD6063"/>
                </a:solidFill>
                <a:latin typeface="Aptos"/>
              </a:rPr>
              <a:t>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813048"/>
            <a:ext cx="2112264" cy="5212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No cycles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3246120"/>
            <a:ext cx="25146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732520" y="3246120"/>
            <a:ext cx="2514600" cy="64008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33688" y="3429000"/>
            <a:ext cx="2112264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13048"/>
            <a:ext cx="2112264" cy="5212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V − 1 = 4 edges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800600"/>
            <a:ext cx="5303520" cy="777240"/>
          </a:xfrm>
          <a:prstGeom prst="rect">
            <a:avLst/>
          </a:prstGeom>
          <a:solidFill>
            <a:srgbClr val="08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4983480"/>
            <a:ext cx="484632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MST = connected + minimum + cycle-free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4781" y="2073258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0618" y="3429000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07809" y="2777806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31207" y="1626366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17808" y="2918765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788471" y="2671408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859695" y="4014581"/>
            <a:ext cx="276514" cy="19751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72" name="Oval 71"/>
          <p:cNvSpPr/>
          <p:nvPr/>
        </p:nvSpPr>
        <p:spPr>
          <a:xfrm>
            <a:off x="167153" y="2630545"/>
            <a:ext cx="569122" cy="579364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73" name="Oval 72"/>
          <p:cNvSpPr/>
          <p:nvPr/>
        </p:nvSpPr>
        <p:spPr>
          <a:xfrm>
            <a:off x="1578985" y="1561064"/>
            <a:ext cx="588874" cy="555955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74" name="Oval 73"/>
          <p:cNvSpPr/>
          <p:nvPr/>
        </p:nvSpPr>
        <p:spPr>
          <a:xfrm>
            <a:off x="1578985" y="3749771"/>
            <a:ext cx="579365" cy="555955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75" name="Oval 74"/>
          <p:cNvSpPr/>
          <p:nvPr/>
        </p:nvSpPr>
        <p:spPr>
          <a:xfrm>
            <a:off x="3093232" y="1625073"/>
            <a:ext cx="569123" cy="491945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76" name="Oval 75"/>
          <p:cNvSpPr/>
          <p:nvPr/>
        </p:nvSpPr>
        <p:spPr>
          <a:xfrm>
            <a:off x="4014947" y="3749771"/>
            <a:ext cx="513528" cy="491946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 Display"/>
              </a:rPr>
              <a:t>E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591434" y="1969759"/>
            <a:ext cx="1185062" cy="855878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65099" y="2801721"/>
            <a:ext cx="1185062" cy="111922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750161" y="1945843"/>
            <a:ext cx="0" cy="1975104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750161" y="1945843"/>
            <a:ext cx="1514247" cy="0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750161" y="1945843"/>
            <a:ext cx="1514247" cy="1975104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264408" y="1945843"/>
            <a:ext cx="921715" cy="1975104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750161" y="3920947"/>
            <a:ext cx="2435962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04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Given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One example. Seven weighted edges. Start at 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66560" y="1783080"/>
            <a:ext cx="4526280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86600" y="2057400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VERTICES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377440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92F3E"/>
                </a:solidFill>
                <a:latin typeface="Aptos"/>
              </a:rPr>
              <a:t>A, B, C, D, 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63240"/>
            <a:ext cx="18288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F69D5F"/>
                </a:solidFill>
                <a:latin typeface="Aptos"/>
              </a:rPr>
              <a:t>EDGE 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383280"/>
            <a:ext cx="3474720" cy="1371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192F3E"/>
                </a:solidFill>
                <a:latin typeface="Aptos"/>
              </a:rPr>
              <a:t>A–B  2     A–C  3
B–C  1     B–D  4
C–D  5     D–E  2
C–E  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4983480"/>
            <a:ext cx="3749039" cy="27432"/>
          </a:xfrm>
          <a:prstGeom prst="rect">
            <a:avLst/>
          </a:prstGeom>
          <a:solidFill>
            <a:srgbClr val="E0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5102352"/>
            <a:ext cx="73152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GOAL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074920"/>
            <a:ext cx="292608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300" b="1">
                <a:solidFill>
                  <a:srgbClr val="192F3E"/>
                </a:solidFill>
                <a:latin typeface="Aptos"/>
              </a:rPr>
              <a:t>Connect all vertices at minimum cost.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59134" y="2050999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72078" y="366635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81617" y="2877070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15238" y="1555578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25419" y="3141879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38201" y="294438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20292" y="4363882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2" name="Oval 61"/>
          <p:cNvSpPr/>
          <p:nvPr/>
        </p:nvSpPr>
        <p:spPr>
          <a:xfrm>
            <a:off x="401603" y="2740127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3" name="Oval 62"/>
          <p:cNvSpPr/>
          <p:nvPr/>
        </p:nvSpPr>
        <p:spPr>
          <a:xfrm>
            <a:off x="1940207" y="1486818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192F3E"/>
                </a:solidFill>
                <a:latin typeface="Aptos Display"/>
              </a:rPr>
              <a:t>B</a:t>
            </a:r>
          </a:p>
        </p:txBody>
      </p:sp>
      <p:sp>
        <p:nvSpPr>
          <p:cNvPr id="64" name="Oval 63"/>
          <p:cNvSpPr/>
          <p:nvPr/>
        </p:nvSpPr>
        <p:spPr>
          <a:xfrm>
            <a:off x="1922264" y="4281732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C</a:t>
            </a:r>
          </a:p>
        </p:txBody>
      </p:sp>
      <p:sp>
        <p:nvSpPr>
          <p:cNvPr id="65" name="Oval 64"/>
          <p:cNvSpPr/>
          <p:nvPr/>
        </p:nvSpPr>
        <p:spPr>
          <a:xfrm>
            <a:off x="3926068" y="1550140"/>
            <a:ext cx="418427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D</a:t>
            </a:r>
          </a:p>
        </p:txBody>
      </p:sp>
      <p:sp>
        <p:nvSpPr>
          <p:cNvPr id="66" name="Oval 65"/>
          <p:cNvSpPr/>
          <p:nvPr/>
        </p:nvSpPr>
        <p:spPr>
          <a:xfrm>
            <a:off x="5056462" y="4154667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E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751636" y="1885492"/>
            <a:ext cx="1448410" cy="1046074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51636" y="2931566"/>
            <a:ext cx="1448410" cy="1367942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200046" y="1885492"/>
            <a:ext cx="0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200046" y="1885492"/>
            <a:ext cx="1850745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00046" y="1885492"/>
            <a:ext cx="1850745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050791" y="1885492"/>
            <a:ext cx="1126541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200046" y="4299508"/>
            <a:ext cx="2977286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05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How Prim’s Algorithm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At each step, add the cheapest safe edge from the current tree.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22402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2240280" cy="64008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73152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1FB5A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192024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>
                <a:solidFill>
                  <a:srgbClr val="192F3E"/>
                </a:solidFill>
                <a:latin typeface="Aptos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99232"/>
            <a:ext cx="1874519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97D87"/>
                </a:solidFill>
                <a:latin typeface="Aptos"/>
              </a:rPr>
              <a:t>Begin at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560320"/>
            <a:ext cx="411480" cy="4572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69D5F"/>
                </a:solidFill>
                <a:latin typeface="Aptos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874519"/>
            <a:ext cx="22402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874519"/>
            <a:ext cx="2240280" cy="64008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103120"/>
            <a:ext cx="73152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1FB5A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33472"/>
            <a:ext cx="192024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>
                <a:solidFill>
                  <a:srgbClr val="192F3E"/>
                </a:solidFill>
                <a:latin typeface="Aptos"/>
              </a:rPr>
              <a:t>FRONTIER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999232"/>
            <a:ext cx="1874519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97D87"/>
                </a:solidFill>
                <a:latin typeface="Aptos"/>
              </a:rPr>
              <a:t>Check edges leaving the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560320"/>
            <a:ext cx="411480" cy="4572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69D5F"/>
                </a:solidFill>
                <a:latin typeface="Apto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874519"/>
            <a:ext cx="22402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46520" y="1874519"/>
            <a:ext cx="2240280" cy="64008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103120"/>
            <a:ext cx="73152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1FB5A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33472"/>
            <a:ext cx="192024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>
                <a:solidFill>
                  <a:srgbClr val="192F3E"/>
                </a:solidFill>
                <a:latin typeface="Aptos"/>
              </a:rPr>
              <a:t>GREEDY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999232"/>
            <a:ext cx="1874519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97D87"/>
                </a:solidFill>
                <a:latin typeface="Aptos"/>
              </a:rPr>
              <a:t>Pick the lightest crossing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560320"/>
            <a:ext cx="411480" cy="4572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69D5F"/>
                </a:solidFill>
                <a:latin typeface="Apto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1874519"/>
            <a:ext cx="22402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372600" y="1874519"/>
            <a:ext cx="2240280" cy="64008"/>
          </a:xfrm>
          <a:prstGeom prst="rect">
            <a:avLst/>
          </a:prstGeom>
          <a:solidFill>
            <a:srgbClr val="CD6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55480" y="2103120"/>
            <a:ext cx="73152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1FB5A0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33472"/>
            <a:ext cx="192024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1">
                <a:solidFill>
                  <a:srgbClr val="192F3E"/>
                </a:solidFill>
                <a:latin typeface="Aptos"/>
              </a:rPr>
              <a:t>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999232"/>
            <a:ext cx="1874519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97D87"/>
                </a:solidFill>
                <a:latin typeface="Aptos"/>
              </a:rPr>
              <a:t>Add the new vertex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199" y="3919202"/>
            <a:ext cx="10972800" cy="1691640"/>
          </a:xfrm>
          <a:prstGeom prst="rect">
            <a:avLst/>
          </a:prstGeom>
          <a:solidFill>
            <a:srgbClr val="08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480560"/>
            <a:ext cx="246888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FIRST FRONTIER FROM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617720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A–B =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617720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9D5F"/>
                </a:solidFill>
                <a:latin typeface="Aptos"/>
              </a:rPr>
              <a:t>A–C =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5074920"/>
            <a:ext cx="30175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D2D7"/>
                </a:solidFill>
                <a:latin typeface="Aptos"/>
              </a:rPr>
              <a:t>Choose A–B first.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53722" y="4130039"/>
            <a:ext cx="180686" cy="13929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520440" y="4892040"/>
            <a:ext cx="182880" cy="1143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56720" y="4550138"/>
            <a:ext cx="185624" cy="1133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15017" y="4136786"/>
            <a:ext cx="167149" cy="9970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449470" y="4677316"/>
            <a:ext cx="191106" cy="14157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125943" y="4554625"/>
            <a:ext cx="165689" cy="12269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631435" y="5176600"/>
            <a:ext cx="180685" cy="12380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82" name="Oval 81"/>
          <p:cNvSpPr/>
          <p:nvPr/>
        </p:nvSpPr>
        <p:spPr>
          <a:xfrm>
            <a:off x="3218683" y="4462040"/>
            <a:ext cx="180685" cy="180685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83" name="Oval 82"/>
          <p:cNvSpPr/>
          <p:nvPr/>
        </p:nvSpPr>
        <p:spPr>
          <a:xfrm>
            <a:off x="3882354" y="3959435"/>
            <a:ext cx="180685" cy="180685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84" name="Oval 83"/>
          <p:cNvSpPr/>
          <p:nvPr/>
        </p:nvSpPr>
        <p:spPr>
          <a:xfrm>
            <a:off x="3863172" y="5137549"/>
            <a:ext cx="180685" cy="180685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85" name="Oval 84"/>
          <p:cNvSpPr/>
          <p:nvPr/>
        </p:nvSpPr>
        <p:spPr>
          <a:xfrm>
            <a:off x="4760001" y="3959435"/>
            <a:ext cx="180685" cy="180685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86" name="Oval 85"/>
          <p:cNvSpPr/>
          <p:nvPr/>
        </p:nvSpPr>
        <p:spPr>
          <a:xfrm>
            <a:off x="5251587" y="5086257"/>
            <a:ext cx="180685" cy="180685"/>
          </a:xfrm>
          <a:prstGeom prst="ellipse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E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3380536" y="4102912"/>
            <a:ext cx="625450" cy="451714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380536" y="4554626"/>
            <a:ext cx="625450" cy="590702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05986" y="4102912"/>
            <a:ext cx="0" cy="1042416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005986" y="4102912"/>
            <a:ext cx="799186" cy="0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994104" y="4102912"/>
            <a:ext cx="799186" cy="1042416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805172" y="4102912"/>
            <a:ext cx="486460" cy="1042416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005986" y="5145328"/>
            <a:ext cx="1285646" cy="0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06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Expand {A}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Teal = selected tree   •   Orange dashed = current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828800"/>
            <a:ext cx="3886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828800"/>
            <a:ext cx="73152" cy="3337560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2103120"/>
            <a:ext cx="2103120" cy="6858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4000" b="1">
                <a:solidFill>
                  <a:srgbClr val="081B2C"/>
                </a:solidFill>
                <a:latin typeface="Aptos Display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926080"/>
            <a:ext cx="3063240" cy="5029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92F3E"/>
                </a:solidFill>
                <a:latin typeface="Aptos Display"/>
              </a:rPr>
              <a:t>Choose A–B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611880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9D5F"/>
                </a:solidFill>
                <a:latin typeface="Aptos"/>
              </a:rPr>
              <a:t>weight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114800"/>
            <a:ext cx="2971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97D87"/>
                </a:solidFill>
                <a:latin typeface="Aptos"/>
              </a:rPr>
              <a:t>Lightest crossing 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222005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88720" y="3817432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97711" y="3073115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56438" y="1683593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60166" y="3123590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72948" y="3049523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3835" y="4491897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376001" y="2840309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1" name="Oval 60"/>
          <p:cNvSpPr/>
          <p:nvPr/>
        </p:nvSpPr>
        <p:spPr>
          <a:xfrm>
            <a:off x="1975423" y="1634582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B</a:t>
            </a:r>
          </a:p>
        </p:txBody>
      </p:sp>
      <p:sp>
        <p:nvSpPr>
          <p:cNvPr id="62" name="Oval 61"/>
          <p:cNvSpPr/>
          <p:nvPr/>
        </p:nvSpPr>
        <p:spPr>
          <a:xfrm>
            <a:off x="1926458" y="4372429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C</a:t>
            </a:r>
          </a:p>
        </p:txBody>
      </p:sp>
      <p:sp>
        <p:nvSpPr>
          <p:cNvPr id="63" name="Oval 62"/>
          <p:cNvSpPr/>
          <p:nvPr/>
        </p:nvSpPr>
        <p:spPr>
          <a:xfrm>
            <a:off x="3881811" y="1599102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D</a:t>
            </a:r>
          </a:p>
        </p:txBody>
      </p:sp>
      <p:sp>
        <p:nvSpPr>
          <p:cNvPr id="64" name="Oval 63"/>
          <p:cNvSpPr/>
          <p:nvPr/>
        </p:nvSpPr>
        <p:spPr>
          <a:xfrm>
            <a:off x="5093493" y="4314869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192F3E"/>
                </a:solidFill>
                <a:latin typeface="Aptos Display"/>
              </a:rPr>
              <a:t>E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751636" y="1976932"/>
            <a:ext cx="1448410" cy="1046074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51636" y="3023006"/>
            <a:ext cx="1448410" cy="1367942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200046" y="1976932"/>
            <a:ext cx="0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40280" y="2001072"/>
            <a:ext cx="1850745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0046" y="1976932"/>
            <a:ext cx="1850745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050791" y="1976932"/>
            <a:ext cx="1126541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00046" y="4390948"/>
            <a:ext cx="2977286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07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Update after B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Teal = selected tree   •   Orange dashed = current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828800"/>
            <a:ext cx="3886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828800"/>
            <a:ext cx="73152" cy="3337560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2103120"/>
            <a:ext cx="2103120" cy="6858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4000" b="1">
                <a:solidFill>
                  <a:srgbClr val="081B2C"/>
                </a:solidFill>
                <a:latin typeface="Aptos Display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926080"/>
            <a:ext cx="3063240" cy="5029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92F3E"/>
                </a:solidFill>
                <a:latin typeface="Aptos Display"/>
              </a:rPr>
              <a:t>Choose B–C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611880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9D5F"/>
                </a:solidFill>
                <a:latin typeface="Aptos"/>
              </a:rPr>
              <a:t>weight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114800"/>
            <a:ext cx="2971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97D87"/>
                </a:solidFill>
                <a:latin typeface="Aptos"/>
              </a:rPr>
              <a:t>Weight 1 reaches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10300" y="2162740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73505" y="378744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45407" y="2955340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08158" y="1657178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44439" y="3180617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77043" y="2892910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63913" y="4487508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364736" y="2782899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1" name="Oval 60"/>
          <p:cNvSpPr/>
          <p:nvPr/>
        </p:nvSpPr>
        <p:spPr>
          <a:xfrm>
            <a:off x="1942552" y="1550456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62" name="Oval 61"/>
          <p:cNvSpPr/>
          <p:nvPr/>
        </p:nvSpPr>
        <p:spPr>
          <a:xfrm>
            <a:off x="1878325" y="4390948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C</a:t>
            </a:r>
          </a:p>
        </p:txBody>
      </p:sp>
      <p:sp>
        <p:nvSpPr>
          <p:cNvPr id="63" name="Oval 62"/>
          <p:cNvSpPr/>
          <p:nvPr/>
        </p:nvSpPr>
        <p:spPr>
          <a:xfrm>
            <a:off x="3954231" y="1588941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D</a:t>
            </a:r>
          </a:p>
        </p:txBody>
      </p:sp>
      <p:sp>
        <p:nvSpPr>
          <p:cNvPr id="64" name="Oval 63"/>
          <p:cNvSpPr/>
          <p:nvPr/>
        </p:nvSpPr>
        <p:spPr>
          <a:xfrm>
            <a:off x="5114421" y="4336451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E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751636" y="2003450"/>
            <a:ext cx="1448410" cy="1046074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4811" y="2990657"/>
            <a:ext cx="1448410" cy="1367942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200046" y="1976932"/>
            <a:ext cx="0" cy="2414016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00046" y="1976932"/>
            <a:ext cx="1850745" cy="0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0046" y="1976932"/>
            <a:ext cx="1850745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050791" y="1976932"/>
            <a:ext cx="1126541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00046" y="4390948"/>
            <a:ext cx="2977286" cy="0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08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Update after C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Teal = selected tree   •   Orange dashed = current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828800"/>
            <a:ext cx="3886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828800"/>
            <a:ext cx="73152" cy="3337560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2103120"/>
            <a:ext cx="2103120" cy="6858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4000" b="1">
                <a:solidFill>
                  <a:srgbClr val="081B2C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926080"/>
            <a:ext cx="3063240" cy="5029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92F3E"/>
                </a:solidFill>
                <a:latin typeface="Aptos Display"/>
              </a:rPr>
              <a:t>Choose B–D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611880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9D5F"/>
                </a:solidFill>
                <a:latin typeface="Aptos"/>
              </a:rPr>
              <a:t>weight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114800"/>
            <a:ext cx="2971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97D87"/>
                </a:solidFill>
                <a:latin typeface="Aptos"/>
              </a:rPr>
              <a:t>Cheaper than C–D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10300" y="2172616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36274" y="380573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33337" y="2953511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56438" y="162580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160166" y="3124323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84654" y="2953511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16269" y="4490434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0" name="Oval 59"/>
          <p:cNvSpPr/>
          <p:nvPr/>
        </p:nvSpPr>
        <p:spPr>
          <a:xfrm>
            <a:off x="413675" y="2813791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1" name="Oval 60"/>
          <p:cNvSpPr/>
          <p:nvPr/>
        </p:nvSpPr>
        <p:spPr>
          <a:xfrm>
            <a:off x="1942552" y="1580448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62" name="Oval 61"/>
          <p:cNvSpPr/>
          <p:nvPr/>
        </p:nvSpPr>
        <p:spPr>
          <a:xfrm>
            <a:off x="1927920" y="4366808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63" name="Oval 62"/>
          <p:cNvSpPr/>
          <p:nvPr/>
        </p:nvSpPr>
        <p:spPr>
          <a:xfrm>
            <a:off x="3954231" y="1657990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192F3E"/>
                </a:solidFill>
                <a:latin typeface="Aptos Display"/>
              </a:rPr>
              <a:t>D</a:t>
            </a:r>
          </a:p>
        </p:txBody>
      </p:sp>
      <p:sp>
        <p:nvSpPr>
          <p:cNvPr id="64" name="Oval 63"/>
          <p:cNvSpPr/>
          <p:nvPr/>
        </p:nvSpPr>
        <p:spPr>
          <a:xfrm>
            <a:off x="5078212" y="4258911"/>
            <a:ext cx="418429" cy="41842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192F3E"/>
                </a:solidFill>
                <a:latin typeface="Aptos Display"/>
              </a:rPr>
              <a:t>E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751636" y="1976932"/>
            <a:ext cx="1448410" cy="1046074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51636" y="3023006"/>
            <a:ext cx="1448410" cy="1367942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200046" y="1976932"/>
            <a:ext cx="0" cy="2414016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00046" y="1976932"/>
            <a:ext cx="1850745" cy="0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0046" y="1976932"/>
            <a:ext cx="1850745" cy="2414016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050791" y="1976932"/>
            <a:ext cx="1126541" cy="2414016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00046" y="4390948"/>
            <a:ext cx="2977286" cy="0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09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Complete the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Teal = selected tree   •   Orange dashed = current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1828800"/>
            <a:ext cx="388620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60920" y="1828800"/>
            <a:ext cx="73152" cy="3337560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26679" y="2103120"/>
            <a:ext cx="2103120" cy="6858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4000" b="1">
                <a:solidFill>
                  <a:srgbClr val="081B2C"/>
                </a:solidFill>
                <a:latin typeface="Aptos Display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926080"/>
            <a:ext cx="3063240" cy="5029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192F3E"/>
                </a:solidFill>
                <a:latin typeface="Aptos Display"/>
              </a:rPr>
              <a:t>Choose D–E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611880"/>
            <a:ext cx="256032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9D5F"/>
                </a:solidFill>
                <a:latin typeface="Aptos"/>
              </a:rPr>
              <a:t>weight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4114800"/>
            <a:ext cx="2971800" cy="6400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697D87"/>
                </a:solidFill>
                <a:latin typeface="Aptos"/>
              </a:rPr>
              <a:t>All five vertices are connected.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40680"/>
            <a:ext cx="10607040" cy="685800"/>
          </a:xfrm>
          <a:prstGeom prst="rect">
            <a:avLst/>
          </a:prstGeom>
          <a:solidFill>
            <a:srgbClr val="08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658368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 Display"/>
              </a:rPr>
              <a:t>MST COST  =  2 + 1 + 4 + 2  = 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596128"/>
            <a:ext cx="246888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1200" b="1">
                <a:solidFill>
                  <a:srgbClr val="1FB5A0"/>
                </a:solidFill>
                <a:latin typeface="Aptos"/>
              </a:rPr>
              <a:t>4 SELECTED EDGES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09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86695" y="2176273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21786" y="3791102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45407" y="3016057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71193" y="1673352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86613" y="3160356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99395" y="2942539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42970" y="4487508"/>
            <a:ext cx="337962" cy="24140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F69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68" b="1" dirty="0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3" name="Oval 62"/>
          <p:cNvSpPr/>
          <p:nvPr/>
        </p:nvSpPr>
        <p:spPr>
          <a:xfrm>
            <a:off x="424225" y="2754538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4" name="Oval 63"/>
          <p:cNvSpPr/>
          <p:nvPr/>
        </p:nvSpPr>
        <p:spPr>
          <a:xfrm>
            <a:off x="1950599" y="1588496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65" name="Oval 64"/>
          <p:cNvSpPr/>
          <p:nvPr/>
        </p:nvSpPr>
        <p:spPr>
          <a:xfrm>
            <a:off x="1899814" y="4345533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66" name="Oval 65"/>
          <p:cNvSpPr/>
          <p:nvPr/>
        </p:nvSpPr>
        <p:spPr>
          <a:xfrm>
            <a:off x="3938136" y="1596909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67" name="Oval 66"/>
          <p:cNvSpPr/>
          <p:nvPr/>
        </p:nvSpPr>
        <p:spPr>
          <a:xfrm>
            <a:off x="5089184" y="4258911"/>
            <a:ext cx="418429" cy="41842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 Display"/>
              </a:rPr>
              <a:t>E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751636" y="1976932"/>
            <a:ext cx="1448410" cy="1046074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79215" y="3004718"/>
            <a:ext cx="1448410" cy="1367942"/>
          </a:xfrm>
          <a:prstGeom prst="line">
            <a:avLst/>
          </a:prstGeom>
          <a:ln w="19050">
            <a:solidFill>
              <a:srgbClr val="B4C1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200046" y="1976932"/>
            <a:ext cx="0" cy="2414016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00046" y="1976932"/>
            <a:ext cx="1850745" cy="0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200046" y="1976932"/>
            <a:ext cx="1850745" cy="2414016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050791" y="1976932"/>
            <a:ext cx="1126541" cy="2414016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200046" y="4390948"/>
            <a:ext cx="2977286" cy="0"/>
          </a:xfrm>
          <a:prstGeom prst="line">
            <a:avLst/>
          </a:prstGeom>
          <a:ln w="22860">
            <a:solidFill>
              <a:srgbClr val="F69D5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 dirty="0">
                <a:solidFill>
                  <a:srgbClr val="1FB5A0"/>
                </a:solidFill>
                <a:latin typeface="Aptos"/>
              </a:rPr>
              <a:t>10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Data Structures Change the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BFD2D7"/>
                </a:solidFill>
                <a:latin typeface="Aptos"/>
              </a:rPr>
              <a:t>The representation determines the running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074920" cy="3337560"/>
          </a:xfrm>
          <a:prstGeom prst="rect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074920" cy="64008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057400"/>
            <a:ext cx="4672583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ADJACENCY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41448"/>
            <a:ext cx="4672583" cy="26243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FFFFFF"/>
                </a:solidFill>
                <a:latin typeface="Aptos"/>
              </a:rPr>
              <a:t>O(V²)
Space: O(V²)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5074920" cy="3337560"/>
          </a:xfrm>
          <a:prstGeom prst="rect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074920" cy="64008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057400"/>
            <a:ext cx="4672583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F69D5F"/>
                </a:solidFill>
                <a:latin typeface="Aptos"/>
              </a:rPr>
              <a:t>ADJACENCY LIST + BINARY HEAP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672583" cy="262432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0">
                <a:solidFill>
                  <a:srgbClr val="FFFFFF"/>
                </a:solidFill>
                <a:latin typeface="Aptos"/>
              </a:rPr>
              <a:t>O((V + E) log V)
Space: O(V + 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D2D7"/>
                </a:solidFill>
                <a:latin typeface="Aptos"/>
              </a:rPr>
              <a:t>Simple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34747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200" b="0">
                <a:solidFill>
                  <a:srgbClr val="BFD2D7"/>
                </a:solidFill>
                <a:latin typeface="Aptos"/>
              </a:rPr>
              <a:t>Efficient for sparse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9AAFB9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9AAFB9"/>
                </a:solidFill>
                <a:latin typeface="Aptos"/>
              </a:rPr>
              <a:t>10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4C8C0A-084B-F73B-93C4-7C71BCEE6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76"/>
            <a:ext cx="12192000" cy="68080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6AE14F-2CD3-EB8C-2BAA-C3F10D516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6"/>
            <a:ext cx="12192000" cy="6808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B5A0"/>
                </a:solidFill>
                <a:latin typeface="Aptos"/>
              </a:rPr>
              <a:t>11  /  DAA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064240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192F3E"/>
                </a:solidFill>
                <a:latin typeface="Aptos Display"/>
              </a:rPr>
              <a:t>Same Destination. Different Route.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15568"/>
            <a:ext cx="1078992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0">
                <a:solidFill>
                  <a:srgbClr val="697D87"/>
                </a:solidFill>
                <a:latin typeface="Aptos"/>
              </a:rPr>
              <a:t>Both algorithms find a minimum spanning tree.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99616"/>
            <a:ext cx="658368" cy="4572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3035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303520" cy="64008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4901183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PRIM’S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331168" cy="186820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700" b="0" dirty="0">
                <a:solidFill>
                  <a:srgbClr val="192F3E"/>
                </a:solidFill>
                <a:latin typeface="Aptos"/>
              </a:rPr>
              <a:t>Grows one connected tree
Chooses cheapest crossing edge
</a:t>
            </a:r>
            <a:r>
              <a:rPr lang="en-IN" sz="1600" dirty="0"/>
              <a:t>Priority Queue</a:t>
            </a:r>
            <a:r>
              <a:rPr sz="1700" b="0" dirty="0">
                <a:solidFill>
                  <a:srgbClr val="192F3E"/>
                </a:solidFill>
                <a:latin typeface="Aptos"/>
              </a:rPr>
              <a:t> + adjacency structure
Good for graph-growth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035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303520" cy="64008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4901183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F69D5F"/>
                </a:solidFill>
                <a:latin typeface="Aptos"/>
              </a:rPr>
              <a:t>KRUSKAL’S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95728"/>
            <a:ext cx="4901183" cy="31272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192F3E"/>
                </a:solidFill>
                <a:latin typeface="Aptos"/>
              </a:rPr>
              <a:t>Builds a forest of components
Chooses globally lightest safe edge
Edge sort + Disjoint Set
Good for edge-list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8B9BA0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8B9BA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 dirty="0">
                <a:solidFill>
                  <a:srgbClr val="1FB5A0"/>
                </a:solidFill>
                <a:latin typeface="Aptos"/>
              </a:rPr>
              <a:t>12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5303520" cy="1554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Grow. Choose.
Connect.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2651760"/>
            <a:ext cx="777240" cy="54864"/>
          </a:xfrm>
          <a:prstGeom prst="rect">
            <a:avLst/>
          </a:prstGeom>
          <a:solidFill>
            <a:srgbClr val="F69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029200" cy="5029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D2D7"/>
                </a:solidFill>
                <a:latin typeface="Aptos"/>
              </a:rPr>
              <a:t>Prim’s algorithm grows an MST through safe greedy choices.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502920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BFD2D7"/>
                </a:solidFill>
                <a:latin typeface="Aptos"/>
              </a:rPr>
              <a:t>Each step adds the cheapest useful connection.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029200" cy="4114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FB5A0"/>
                </a:solidFill>
                <a:latin typeface="Aptos"/>
              </a:rPr>
              <a:t>For the given graph, MST cost = 9.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4937760" cy="4480560"/>
          </a:xfrm>
          <a:prstGeom prst="rect">
            <a:avLst/>
          </a:prstGeom>
          <a:solidFill>
            <a:srgbClr val="10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1417320"/>
            <a:ext cx="32004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B5A0"/>
                </a:solidFill>
                <a:latin typeface="Aptos"/>
              </a:rPr>
              <a:t>FINAL MST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737360"/>
            <a:ext cx="2743200" cy="11430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32004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F69D5F"/>
                </a:solidFill>
                <a:latin typeface="Aptos"/>
              </a:rPr>
              <a:t>4 selected edges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4389120" cy="5029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19672"/>
            <a:ext cx="658368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1">
                <a:solidFill>
                  <a:srgbClr val="9AAFB9"/>
                </a:solidFill>
                <a:latin typeface="Aptos"/>
              </a:rPr>
              <a:t>DESIGN &amp; ANALYSIS OF ALGORITHMS  •  PRIM’S ALGORITHM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9AAFB9"/>
                </a:solidFill>
                <a:latin typeface="Aptos"/>
              </a:rPr>
              <a:t>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06702" y="3449482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 dirty="0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74332" y="4279392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95743" y="3881033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0125" y="3205794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51272" y="4061286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8617" y="3827749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64459" y="4650729"/>
            <a:ext cx="256032" cy="182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0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800" b="1">
                <a:solidFill>
                  <a:srgbClr val="192F3E"/>
                </a:solidFill>
                <a:latin typeface="Aptos"/>
              </a:rPr>
              <a:t>6</a:t>
            </a:r>
          </a:p>
        </p:txBody>
      </p:sp>
      <p:sp>
        <p:nvSpPr>
          <p:cNvPr id="61" name="Oval 60"/>
          <p:cNvSpPr/>
          <p:nvPr/>
        </p:nvSpPr>
        <p:spPr>
          <a:xfrm>
            <a:off x="6516380" y="3826490"/>
            <a:ext cx="204459" cy="20445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62" name="Oval 61"/>
          <p:cNvSpPr/>
          <p:nvPr/>
        </p:nvSpPr>
        <p:spPr>
          <a:xfrm>
            <a:off x="7276704" y="3246120"/>
            <a:ext cx="204459" cy="20445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63" name="Oval 62"/>
          <p:cNvSpPr/>
          <p:nvPr/>
        </p:nvSpPr>
        <p:spPr>
          <a:xfrm>
            <a:off x="7256496" y="4596141"/>
            <a:ext cx="204459" cy="20445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64" name="Oval 63"/>
          <p:cNvSpPr/>
          <p:nvPr/>
        </p:nvSpPr>
        <p:spPr>
          <a:xfrm>
            <a:off x="8282587" y="3253525"/>
            <a:ext cx="204459" cy="20445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65" name="Oval 64"/>
          <p:cNvSpPr/>
          <p:nvPr/>
        </p:nvSpPr>
        <p:spPr>
          <a:xfrm>
            <a:off x="8813535" y="4572000"/>
            <a:ext cx="204459" cy="204459"/>
          </a:xfrm>
          <a:prstGeom prst="ellipse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 Display"/>
              </a:rPr>
              <a:t>E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6702094" y="3423970"/>
            <a:ext cx="707746" cy="511150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702094" y="3935120"/>
            <a:ext cx="707746" cy="668426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409840" y="3423970"/>
            <a:ext cx="0" cy="1179576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409840" y="3423970"/>
            <a:ext cx="904341" cy="0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409840" y="3423970"/>
            <a:ext cx="904341" cy="1179576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313495" y="3439331"/>
            <a:ext cx="550469" cy="1179576"/>
          </a:xfrm>
          <a:prstGeom prst="line">
            <a:avLst/>
          </a:prstGeom>
          <a:ln w="35560">
            <a:solidFill>
              <a:srgbClr val="1F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409840" y="4603546"/>
            <a:ext cx="1454810" cy="0"/>
          </a:xfrm>
          <a:prstGeom prst="line">
            <a:avLst/>
          </a:prstGeom>
          <a:ln w="19050">
            <a:solidFill>
              <a:srgbClr val="4A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789</Words>
  <Application>Microsoft Office PowerPoint</Application>
  <PresentationFormat>Widescreen</PresentationFormat>
  <Paragraphs>259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Siddhi</dc:creator>
  <cp:keywords/>
  <dc:description>generated using python-pptx</dc:description>
  <cp:lastModifiedBy>Siddhi Shahu</cp:lastModifiedBy>
  <cp:revision>4</cp:revision>
  <dcterms:created xsi:type="dcterms:W3CDTF">2013-01-27T09:14:16Z</dcterms:created>
  <dcterms:modified xsi:type="dcterms:W3CDTF">2026-10-19T14:22:30Z</dcterms:modified>
  <cp:category/>
</cp:coreProperties>
</file>